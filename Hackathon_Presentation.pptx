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71" r:id="rId7"/>
    <p:sldId id="265" r:id="rId8"/>
    <p:sldId id="260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6376"/>
    <a:srgbClr val="F3C878"/>
    <a:srgbClr val="9D8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4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GB" sz="1200" b="0" i="0" u="none" strike="noStrike">
                <a:solidFill>
                  <a:srgbClr val="1E2761"/>
                </a:solidFill>
                <a:latin typeface="Calibri"/>
              </a:rPr>
              <a:t>Total Wallet: Captured vs. Open (Sample Data)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Wallet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23E-4CCD-9491-9CA9E02DE9F1}"/>
              </c:ext>
            </c:extLst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23E-4CCD-9491-9CA9E02DE9F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200" b="0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fld id="{39031346-39C7-4BF9-9F56-C3771850D511}" type="VALUE">
                      <a:rPr lang="en-US" smtClean="0"/>
                      <a:pPr>
                        <a:defRPr sz="1200" b="0" i="0" u="none" strike="noStrike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t>[VALUE]</a:t>
                    </a:fld>
                    <a:r>
                      <a:rPr lang="en-US" dirty="0"/>
                      <a:t>%</a:t>
                    </a:r>
                    <a:r>
                      <a:rPr lang="en-US" baseline="0" dirty="0"/>
                      <a:t>
</a:t>
                    </a:r>
                  </a:p>
                </c:rich>
              </c:tx>
              <c:numFmt formatCode="0%" sourceLinked="0"/>
              <c:spPr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575884611645763"/>
                      <c:h val="0.1904186795491143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23E-4CCD-9491-9CA9E02DE9F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200" b="0" i="0" u="none" strike="noStrike">
                        <a:solidFill>
                          <a:srgbClr val="FFFFFF"/>
                        </a:solidFill>
                        <a:latin typeface="Calibri"/>
                      </a:defRPr>
                    </a:pPr>
                    <a:fld id="{4C4D071E-A492-470E-B126-33C3B6D8986F}" type="VALUE">
                      <a:rPr lang="en-US" smtClean="0">
                        <a:solidFill>
                          <a:schemeClr val="accent1">
                            <a:lumMod val="50000"/>
                          </a:schemeClr>
                        </a:solidFill>
                      </a:rPr>
                      <a:pPr>
                        <a:defRPr sz="1200" b="0" i="0" u="none" strike="noStrike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t>[VALUE]</a:t>
                    </a:fld>
                    <a:r>
                      <a:rPr lang="en-US" dirty="0">
                        <a:solidFill>
                          <a:schemeClr val="accent1">
                            <a:lumMod val="50000"/>
                          </a:schemeClr>
                        </a:solidFill>
                      </a:rPr>
                      <a:t>%</a:t>
                    </a:r>
                    <a:r>
                      <a:rPr lang="en-US" baseline="0" dirty="0">
                        <a:solidFill>
                          <a:schemeClr val="accent1">
                            <a:lumMod val="50000"/>
                          </a:schemeClr>
                        </a:solidFill>
                      </a:rPr>
                      <a:t>
</a:t>
                    </a:r>
                  </a:p>
                </c:rich>
              </c:tx>
              <c:numFmt formatCode="0%" sourceLinked="0"/>
              <c:spPr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23E-4CCD-9491-9CA9E02DE9F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Captured by Syn Bank</c:v>
                </c:pt>
                <c:pt idx="1">
                  <c:v>Held by Competitors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19.97</c:v>
                </c:pt>
                <c:pt idx="1">
                  <c:v>80.3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23E-4CCD-9491-9CA9E02DE9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756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keyhole image, not the model. One sentence: Syn Bank sees every rand that crosses its own desk and nothing that crosses anyone else's. Ten minutes: the problem, how we thought about it, what the engine produces, Gen AI, bonus areas,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problem in one image. Do not rush past it — the judges need to feel why the obvious approach fails before they will care about a Bayesian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bridge and the strongest thing we can say about our own thinking. If a judge only remembers one line, make it the last one: unobservable means belief, and belief means Bayes. It also pre-empts 'why not just build a regression'.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not a point estimate: because the target is unobservable, so precision is unfalsifiable and the interval width is itself commercial information. The reported centre is the median of the posterior, not the mean — happy to explain why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obvious challenge is 'you cannot read wallet off an income statement' — we agree, and the translation step is exactly why. If pressed: each metric carries a conversion multiplier to banking volume and is rescaled to the observation period before it enters the update. Detail is in the methodology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APPROACH &amp; DATA: Update the data source bullets if your team used additional or different datasets/sources.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three stat boxes and the chart from the final pipeline run before submitting. Say out loud: rank on rand gap, not percentage share, and always name the pillar so the call has a product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OVERVIEW: Replace the KPI numbers and right-click the donut chart -&gt; Edit Data to insert your real portfolio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 AI is a fifth of the score and the brief warns against cosmetic use. The guardrail point — aggregates only, never raw transactions — lands well with banking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 figures deliberately kept off the slide. If a judge asks: training error is low, and engagement AUC is near 1.0 because the label is currently a deterministic heuristic of the features — a sanity check, not a generalisation claim, and swappable for real CRM meeting outcomes. Name that yourself before they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to the latency question is structural, not infrastructural: checkpoint gating plus warm starts, and exactly one LLM call at the tail of the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rush this slide. Naming the failure modes before the panel does is the cheapest way to earn analytical rigour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one-sentence value claim, then take questions. Likely questions: why a range rather than a number, how the ceiling is enforced, what happens when a client has no external signals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DATA SCHOOL HACKATHON  ·  SYN BANK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Peeping through the keyhole:</a:t>
            </a:r>
          </a:p>
          <a:p>
            <a:pPr marL="0" indent="0">
              <a:lnSpc>
                <a:spcPts val="4800"/>
              </a:lnSpc>
              <a:buNone/>
            </a:pPr>
            <a:r>
              <a:rPr lang="en-US" sz="4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Understanding wallet share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37033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300"/>
              </a:lnSpc>
            </a:pPr>
            <a:r>
              <a:rPr lang="en-ZA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“I don't play the odds, I play the man.” – Harvey Specter</a:t>
            </a:r>
            <a:endParaRPr lang="en-US" sz="1500" dirty="0">
              <a:solidFill>
                <a:schemeClr val="accent1">
                  <a:lumMod val="40000"/>
                  <a:lumOff val="6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19" y="5074920"/>
            <a:ext cx="690372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800" dirty="0">
                <a:solidFill>
                  <a:srgbClr val="9AA7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Avengers Assembly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A7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Presented by: Aiden Wood,  Adriaan Mostert, George Mato, Jack Moon and James Stapylton-Smith</a:t>
            </a:r>
          </a:p>
        </p:txBody>
      </p:sp>
      <p:sp>
        <p:nvSpPr>
          <p:cNvPr id="8" name="Text 6"/>
          <p:cNvSpPr/>
          <p:nvPr/>
        </p:nvSpPr>
        <p:spPr>
          <a:xfrm>
            <a:off x="9189720" y="3154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4FADC-6180-5AD5-10C9-60F2C7454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044" y="1645920"/>
            <a:ext cx="3376296" cy="39331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through a keyhole into a very large house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5623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Bank sees its own room perfectly.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payment, every trade finance line, every cross-border transfer that crosses its desk is recorded exactly.
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Syn Bank is never a client's only bank.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JSE-listed corporate runs mandates across several institutions at once. Everything flowing to competitors sits behind the door, in the dark.
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commercial question — how much of this client's business do we actually have? — cannot be answered by looking harder at our own records.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29400" y="1554480"/>
            <a:ext cx="4937760" cy="3429000"/>
          </a:xfrm>
          <a:prstGeom prst="roundRect">
            <a:avLst>
              <a:gd name="adj" fmla="val 1600"/>
            </a:avLst>
          </a:prstGeom>
          <a:solidFill>
            <a:srgbClr val="121A3A"/>
          </a:solidFill>
          <a:ln w="12700">
            <a:solidFill>
              <a:srgbClr val="121A3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482032" y="2837979"/>
            <a:ext cx="1163915" cy="816281"/>
          </a:xfrm>
          <a:prstGeom prst="roundRect">
            <a:avLst>
              <a:gd name="adj" fmla="val 333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218170" y="28803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Syn Bank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12280" y="4315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else. the client's true total wallet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53492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perfect record of one room is not a picture of the house.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READ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is complete and blind at the same time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modelling anything we asked what kind of gap this actually is. That answer decided the whole approach.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841248" y="25420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88036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census, not a sample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52044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records are not a noisy sample of the client's activity. Within Syn Bank they are total and exact.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42816" y="233172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517136" y="25420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7136" y="288036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part is not random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17136" y="352044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absent is one specific thing — every rand the client chose to place elsewhere. That is a structural blind spot, not noise that averages out.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18704" y="233172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8193024" y="25420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93024" y="288036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more internal data never closes 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93024" y="352044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amount of extra transaction history reveals a competitor's mandate. The answer has to come from outside the bank, or be stated as an honest estimate.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5074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you cannot observe is not a measurement problem. It is a belief problem — and beliefs are what Bayesian methods are built to handle.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We’re smart enough to know we could be wrong</a:t>
            </a: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asks how big the wallet is. The honest reply is a range, and a range is more useful to a banker than a false decimal point.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24231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figure cannot be checked.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at Syn Bank will ever see the true wallet, so a point estimate can never be proved right or wrong — it can only look confident.
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 carries its own warning label.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 interval tells the banker the number is soft and to probe in the meeting. A tight one tells them to back it. Same effort, far better decisions.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75604" y="2423160"/>
            <a:ext cx="5513832" cy="2651760"/>
          </a:xfrm>
          <a:prstGeom prst="roundRect">
            <a:avLst>
              <a:gd name="adj" fmla="val 2759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6355080" y="25420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REPORT INSTEAD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5508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guess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32520" y="2962656"/>
            <a:ext cx="155448" cy="155448"/>
          </a:xfrm>
          <a:prstGeom prst="ellipse">
            <a:avLst/>
          </a:prstGeom>
          <a:solidFill>
            <a:srgbClr val="5A6376"/>
          </a:solidFill>
          <a:ln w="12700">
            <a:solidFill>
              <a:srgbClr val="5A637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9006840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precise, proves nothing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550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credible range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49640" y="3648456"/>
            <a:ext cx="1965960" cy="201168"/>
          </a:xfrm>
          <a:prstGeom prst="roundRect">
            <a:avLst>
              <a:gd name="adj" fmla="val 4545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9473184" y="3538728"/>
            <a:ext cx="50292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35508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value, plus how sure we are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5508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wallet figure in this deck is the middle of a range, never a lone number.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signal lights one more corner of the room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kinds of evidence, none of which is a wallet figure on its own. Each one tells us where the truth cannot be, and the room gets brighter.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2523744" cy="2331720"/>
          </a:xfrm>
          <a:prstGeom prst="roundRect">
            <a:avLst>
              <a:gd name="adj" fmla="val 3137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04672" y="2542032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04672" y="25923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303580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financials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365760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reports and cashflow statements: what the client spends, earns and moves in a year.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28416" y="2331720"/>
            <a:ext cx="2523744" cy="2331720"/>
          </a:xfrm>
          <a:prstGeom prst="roundRect">
            <a:avLst>
              <a:gd name="adj" fmla="val 3137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566160" y="2542032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566160" y="25923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303580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Cross-border payments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66160" y="365760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activity revealing the scale and rhythm of international business we may only partly serve.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9904" y="2331720"/>
            <a:ext cx="2523744" cy="2331720"/>
          </a:xfrm>
          <a:prstGeom prst="roundRect">
            <a:avLst>
              <a:gd name="adj" fmla="val 3137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6327648" y="2542032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6327648" y="25923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27648" y="303580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finance activity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27648" y="365760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and facilities that imply a wider programme than the slice booked with us.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51392" y="2331720"/>
            <a:ext cx="2523744" cy="2331720"/>
          </a:xfrm>
          <a:prstGeom prst="roundRect">
            <a:avLst>
              <a:gd name="adj" fmla="val 3137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9089136" y="2542032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9089136" y="25923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89136" y="303580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own ledger history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089136" y="365760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belief, and the one number in the whole problem we know with certainty.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892040"/>
            <a:ext cx="11027664" cy="914400"/>
          </a:xfrm>
          <a:prstGeom prst="roundRect">
            <a:avLst>
              <a:gd name="adj" fmla="val 8000"/>
            </a:avLst>
          </a:prstGeom>
          <a:solidFill>
            <a:srgbClr val="FBF3E5"/>
          </a:solidFill>
          <a:ln w="12700">
            <a:solidFill>
              <a:srgbClr val="FBF3E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841248" y="5047488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disclosure is not a wallet figure.  </a:t>
            </a: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operating costs do not say what a company banked, or with whom — they cap what it could plausibly have moved. Each signal is translated into banking volume before it is allowed to change our belief, and anything that cannot be tied to a single product pillar is discarded rather than smeared across all three.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METHODOLOGY OVERVIEW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DF2FC"/>
          </a:solidFill>
          <a:ln w="12700">
            <a:solidFill>
              <a:srgbClr val="DDE4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1499616" y="162763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149961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217627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1792" y="245059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internal Syn Bank records with public financial data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08376" y="2025396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18688" y="14630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DF2FC"/>
          </a:solidFill>
          <a:ln w="12700">
            <a:solidFill>
              <a:srgbClr val="DDE4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261104" y="162763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261104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55848" y="217627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Wallet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83280" y="245059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each client's total addressable banking spend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769864" y="2025396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80176" y="14630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DF2FC"/>
          </a:solidFill>
          <a:ln w="12700">
            <a:solidFill>
              <a:srgbClr val="DDE4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7022592" y="162763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702259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17336" y="217627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Share &amp; Gaps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44768" y="245059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Syn Bank's current capture vs. the total wallet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31352" y="2025396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741664" y="14630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DDE4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9784080" y="162763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978408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878824" y="217627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 Insights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906256" y="245059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gaps into ranked, banker-ready recommendations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DDE4F3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713232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1280160" y="34747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 (Syn Bank)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416052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ledger (50 corporate clients)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cross-border payment data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finance instruments (LCs, guarantees)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324612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DDE4F3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6519672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7086600" y="34747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(Public)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9400" y="416052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reports &amp; JSE SENS announcements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chemeClr val="accent5">
                    <a:lumMod val="50000"/>
                  </a:schemeClr>
                </a:solidFill>
              </a:rPr>
              <a:t>Public Ledgers and Cashflow Statements from our clients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open data &amp;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DealMakers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Bank Share of Wallet Intelligence Engine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coverage banker sees</a:t>
            </a:r>
            <a:endParaRPr lang="en-US" sz="32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951" y="1371600"/>
            <a:ext cx="6374425" cy="3693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02223" y="1573823"/>
            <a:ext cx="46247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Google Sans Text"/>
              </a:rPr>
              <a:t>The coverage banker will be presented with a dashboard that includes a drafted briefing note, a 3-4 sentence summary generated by the Claude API.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Google Sans Text"/>
              </a:rPr>
              <a:t>The note will detail the client's expected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oogle Sans Text"/>
              </a:rPr>
              <a:t>cash position, whether the upcoming week is a good window for outreach (including the reasoning), and one concrete talking point.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Our engine delivers the definitive Total Wallet Size (TAW) across Transactional Banking, Investment Banking, and Global Markets.</a:t>
            </a:r>
            <a:endParaRPr lang="en-US" altLang="en-US" dirty="0"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EXECUTIVE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Overview: MTN Group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640080" y="149961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 dirty="0">
                <a:solidFill>
                  <a:srgbClr val="F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</a:t>
            </a:r>
            <a:r>
              <a:rPr lang="en-ZA" sz="2800" b="1" dirty="0">
                <a:solidFill>
                  <a:srgbClr val="F3C87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88,414</a:t>
            </a:r>
            <a:r>
              <a:rPr lang="en-ZA" sz="2800" dirty="0">
                <a:solidFill>
                  <a:srgbClr val="F3C878"/>
                </a:solidFill>
                <a:latin typeface="Calibri" panose="020F0502020204030204" pitchFamily="34" charset="0"/>
              </a:rPr>
              <a:t> </a:t>
            </a:r>
            <a:r>
              <a:rPr lang="en-US" sz="2600" b="1" dirty="0">
                <a:solidFill>
                  <a:srgbClr val="F3C878"/>
                </a:solidFill>
                <a:latin typeface="Cambria" pitchFamily="34" charset="0"/>
                <a:ea typeface="Cambria" pitchFamily="34" charset="-122"/>
              </a:rPr>
              <a:t>bn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Wallet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0248" y="137160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453128" y="149961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19,97%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53128" y="2103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Bank Current Share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83296" y="137160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8266176" y="149961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 dirty="0">
                <a:solidFill>
                  <a:srgbClr val="F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53084.33 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66176" y="2103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Opportunity Identified</a:t>
            </a:r>
            <a:endParaRPr lang="en-US" sz="1150" dirty="0"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620513815"/>
              </p:ext>
            </p:extLst>
          </p:nvPr>
        </p:nvGraphicFramePr>
        <p:xfrm>
          <a:off x="457200" y="2743200"/>
          <a:ext cx="493776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6263640" y="278892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2F5FC"/>
          </a:solidFill>
          <a:ln w="12700">
            <a:solidFill>
              <a:srgbClr val="DDE4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6537960" y="2971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37960" y="342900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Bank currently captures an estimated 19.99% of total client wallet across the portfolio.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80.1% — roughly R53084.33m — is flowing to competitor banks.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is the addressable opportunity ranked in the following slides.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053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Bank Share of Wallet Intelligence Engine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AI where it is measurable, not decorative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all downstream of the numbers. The estimate is deterministic and reproducible; the language layer makes it usable.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11027664" cy="1005840"/>
          </a:xfrm>
          <a:prstGeom prst="roundRect">
            <a:avLst>
              <a:gd name="adj" fmla="val 7273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22960" y="256489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35608" y="23957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 extraction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35608" y="27432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relevant disclosures out of annual reports and JSE announcements into a structured signal table. Measurable: extraction accuracy against a hand-checked sample, and hours of manual reading removed.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362685"/>
            <a:ext cx="11027664" cy="1005840"/>
          </a:xfrm>
          <a:prstGeom prst="roundRect">
            <a:avLst>
              <a:gd name="adj" fmla="val 7273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822960" y="3648456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822960" y="3698748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35608" y="35295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Financial statement scraping</a:t>
            </a:r>
          </a:p>
        </p:txBody>
      </p:sp>
      <p:sp>
        <p:nvSpPr>
          <p:cNvPr id="14" name="Text 12"/>
          <p:cNvSpPr/>
          <p:nvPr/>
        </p:nvSpPr>
        <p:spPr>
          <a:xfrm>
            <a:off x="1435608" y="3621024"/>
            <a:ext cx="9784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376"/>
                </a:solidFill>
              </a:rPr>
              <a:t>Scrapes the web for public information on ledgers and cashflows to automatically put the data into our models, adapting for varying fiscal years</a:t>
            </a:r>
          </a:p>
        </p:txBody>
      </p:sp>
      <p:sp>
        <p:nvSpPr>
          <p:cNvPr id="15" name="Shape 13"/>
          <p:cNvSpPr/>
          <p:nvPr/>
        </p:nvSpPr>
        <p:spPr>
          <a:xfrm>
            <a:off x="566928" y="4480560"/>
            <a:ext cx="11027664" cy="1005840"/>
          </a:xfrm>
          <a:prstGeom prst="roundRect">
            <a:avLst>
              <a:gd name="adj" fmla="val 7273"/>
            </a:avLst>
          </a:prstGeom>
          <a:solidFill>
            <a:srgbClr val="FBF3E5"/>
          </a:solidFill>
          <a:ln w="12700">
            <a:solidFill>
              <a:srgbClr val="FBF3E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822960" y="478231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822960" y="483260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35607" y="4663440"/>
            <a:ext cx="3731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generation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1091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Once we have gotten the data and </a:t>
            </a:r>
            <a:r>
              <a:rPr lang="en-US" sz="1200" dirty="0" err="1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r>
              <a:rPr lang="en-US" sz="120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it, producing summaries that are easy to understand and quick to make saves crucial time that could be spent on more skillful 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5715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workflow and code for all three are included in the submitted repository.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FOCUS AREA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for cash cycles and engagement timing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raw sources are aggregated to one row per client per week, then two purpose-built models are chained through an orchestrator.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704088" y="254203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builder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4088" y="285292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per client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08960" y="2688336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01568" y="2331720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538728" y="254203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agent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38728" y="285292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week's inflow and outflow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0" y="2688336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6208" y="2331720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373368" y="254203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timing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73368" y="285292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make the call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8240" y="2688336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70848" y="2331720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9208008" y="254203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agent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08008" y="285292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note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37033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chain gives a coverage banker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6928" y="4133088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of the client's cash position for the week ahead, per client.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for the moment the client is most likely to be receptive to a call.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written note explaining why this client, this week, this product.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3639312"/>
            <a:ext cx="5239512" cy="196596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6629400" y="3822192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THE WALLET ENGINE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4160520"/>
            <a:ext cx="4690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wallet engine answers who to call and which product to lead with.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chain answers when — the week the client is actually receptive.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turn a ranked gap list into a dated call plan.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FOCUS AREA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Latency: never recompute what has not changed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carries a checkpoint recording the latest transaction the models were trained on. Every run is gated on that one comparison.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66928" y="25877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run</a:t>
            </a:r>
            <a:endParaRPr lang="en-US" sz="13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0604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17520" y="2084832"/>
            <a:ext cx="2286000" cy="1463040"/>
          </a:xfrm>
          <a:prstGeom prst="diamond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246120" y="2560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new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last run?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49240" y="2487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→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42316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217920" y="2587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retrain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continue, don't restart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4108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98280" y="24231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9098280" y="25877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checkpoint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score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24528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↓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017520" y="39776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01752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cached models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376672" cy="1691640"/>
          </a:xfrm>
          <a:prstGeom prst="roundRect">
            <a:avLst>
              <a:gd name="adj" fmla="val 4324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492240" y="3913632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time actually goes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279392"/>
            <a:ext cx="4828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redone only for clients with genuinely new activity.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continues from where it left off instead of starting cold.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language-model call sits at the very end of the chain.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5623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refresh on an unchanged client costs a model load, not a retrain.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do yet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the shortcoming and potential improvements if we were to continue work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2578608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disclosure into banking volume relies on assumptions that are currently fixed rather than uncertain.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are treated as equally reliable — a simplification forced by having only a handful of signals per client.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 covers what we modelled, not competitor channels we have never seen at all.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pillars are added together independently, so any link between them is unmodelled.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is short and synthetic, and engagement labels are a heuristic rather than real meeting outcomes.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2057400"/>
            <a:ext cx="5330952" cy="3611880"/>
          </a:xfrm>
          <a:prstGeom prst="roundRect">
            <a:avLst>
              <a:gd name="adj" fmla="val 2025"/>
            </a:avLst>
          </a:prstGeom>
          <a:solidFill>
            <a:srgbClr val="F2F5FC"/>
          </a:solidFill>
          <a:ln w="12700">
            <a:solidFill>
              <a:srgbClr val="F2F5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537960" y="224028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build next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37960" y="2670048"/>
            <a:ext cx="47823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conversion assumptions be uncertain too, so that error shows up in the range instead of hiding in the estimate.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sources by how reliable they have proven to be, once more disclosures per client exist.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against clients whose competitor mandates later became public, to check our ranges were honest.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heuristic engagement labels with real CRM meeting outcomes.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briefing-to-meeting conversion as the measurable return on the Gen AI layer.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783080"/>
            <a:ext cx="2926080" cy="2926080"/>
          </a:xfrm>
          <a:prstGeom prst="ellipse">
            <a:avLst/>
          </a:prstGeom>
          <a:solidFill>
            <a:srgbClr val="121A3A"/>
          </a:solidFill>
          <a:ln w="15875">
            <a:solidFill>
              <a:srgbClr val="4A5680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9464040" y="2743200"/>
            <a:ext cx="1005840" cy="10058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500"/>
              </a:lnSpc>
            </a:pPr>
            <a:r>
              <a:rPr lang="en-ZA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"There are things known and there are things unknown, and in between are the doors of perception." — </a:t>
            </a:r>
            <a:r>
              <a:rPr lang="en-ZA" i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Aldous Huxley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Avengers Assembly  ·  2026 Data School Hackathon  ·  Syn Bank Share of Wallet Challenge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2197</Words>
  <Application>Microsoft Office PowerPoint</Application>
  <PresentationFormat>Widescreen</PresentationFormat>
  <Paragraphs>211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Greer Wood</cp:lastModifiedBy>
  <cp:revision>7</cp:revision>
  <dcterms:created xsi:type="dcterms:W3CDTF">2026-08-16T14:07:30Z</dcterms:created>
  <dcterms:modified xsi:type="dcterms:W3CDTF">2026-08-16T20:55:44Z</dcterms:modified>
</cp:coreProperties>
</file>